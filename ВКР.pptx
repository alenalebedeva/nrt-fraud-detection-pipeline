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1" r:id="rId5"/>
    <p:sldId id="272" r:id="rId6"/>
    <p:sldId id="286" r:id="rId7"/>
    <p:sldId id="293" r:id="rId8"/>
    <p:sldId id="287" r:id="rId9"/>
    <p:sldId id="288" r:id="rId10"/>
    <p:sldId id="292" r:id="rId11"/>
    <p:sldId id="289" r:id="rId12"/>
    <p:sldId id="290" r:id="rId13"/>
    <p:sldId id="291" r:id="rId14"/>
    <p:sldId id="285" r:id="rId15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4999"/>
    <a:srgbClr val="029C63"/>
    <a:srgbClr val="96628C"/>
    <a:srgbClr val="11A0D7"/>
    <a:srgbClr val="E61F3D"/>
    <a:srgbClr val="CD5A5A"/>
    <a:srgbClr val="FFD746"/>
    <a:srgbClr val="0E2D69"/>
    <a:srgbClr val="D9D9D9"/>
    <a:srgbClr val="EB6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/>
    <p:restoredTop sz="94694"/>
  </p:normalViewPr>
  <p:slideViewPr>
    <p:cSldViewPr snapToGrid="0" snapToObjects="1">
      <p:cViewPr varScale="1">
        <p:scale>
          <a:sx n="67" d="100"/>
          <a:sy n="67" d="100"/>
        </p:scale>
        <p:origin x="764" y="44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05/06/2026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05/06/2026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mdhossanr/financial-transactions-dataset-for-analysi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Презентация результатов магистерской ВКР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1466" y="1201852"/>
            <a:ext cx="3848717" cy="435163"/>
          </a:xfrm>
        </p:spPr>
        <p:txBody>
          <a:bodyPr/>
          <a:lstStyle/>
          <a:p>
            <a:r>
              <a:rPr lang="ru-RU" dirty="0" smtClean="0"/>
              <a:t>Факультет компьютерных наук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9420" y="1201852"/>
            <a:ext cx="2278063" cy="463186"/>
          </a:xfrm>
        </p:spPr>
        <p:txBody>
          <a:bodyPr/>
          <a:lstStyle/>
          <a:p>
            <a:r>
              <a:rPr lang="ru-RU" dirty="0" smtClean="0"/>
              <a:t>Аналитика больших данных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786720" y="1201852"/>
            <a:ext cx="2217738" cy="463186"/>
          </a:xfrm>
        </p:spPr>
        <p:txBody>
          <a:bodyPr/>
          <a:lstStyle/>
          <a:p>
            <a:r>
              <a:rPr lang="ru-RU" dirty="0" smtClean="0"/>
              <a:t>Москва</a:t>
            </a:r>
          </a:p>
          <a:p>
            <a:r>
              <a:rPr lang="ru-RU" dirty="0" smtClean="0"/>
              <a:t>2026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7966" y="3920139"/>
            <a:ext cx="7625267" cy="652860"/>
          </a:xfrm>
        </p:spPr>
        <p:txBody>
          <a:bodyPr>
            <a:noAutofit/>
          </a:bodyPr>
          <a:lstStyle/>
          <a:p>
            <a:r>
              <a:rPr lang="ru-RU" dirty="0" smtClean="0"/>
              <a:t>Тема: «Разработка </a:t>
            </a:r>
            <a:r>
              <a:rPr lang="ru-RU" dirty="0"/>
              <a:t>нагруженного в режиме близкого к реальному времени конвейера данных поставки платёжной информации, с сохранением истории </a:t>
            </a:r>
            <a:r>
              <a:rPr lang="ru-RU" dirty="0" smtClean="0"/>
              <a:t>платежей»</a:t>
            </a:r>
            <a:endParaRPr lang="ru-RU" dirty="0"/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 txBox="1">
            <a:spLocks/>
          </p:cNvSpPr>
          <p:nvPr/>
        </p:nvSpPr>
        <p:spPr>
          <a:xfrm>
            <a:off x="1027967" y="5015815"/>
            <a:ext cx="7625267" cy="6528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mtClean="0"/>
              <a:t>Студент: Лебедева Алёна Павловна</a:t>
            </a:r>
          </a:p>
          <a:p>
            <a:r>
              <a:rPr lang="ru-RU" dirty="0" smtClean="0"/>
              <a:t>Научный руководитель: </a:t>
            </a:r>
            <a:r>
              <a:rPr lang="ru-RU" dirty="0" err="1" smtClean="0"/>
              <a:t>Заигрин</a:t>
            </a:r>
            <a:r>
              <a:rPr lang="ru-RU" dirty="0" smtClean="0"/>
              <a:t> Вадим Валерьевич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Постановка задачи и цели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Задача:</a:t>
            </a:r>
          </a:p>
          <a:p>
            <a:r>
              <a:rPr lang="ru-RU" dirty="0"/>
              <a:t>Создать NRT-конвейер для обработки платежей, который</a:t>
            </a:r>
            <a:r>
              <a:rPr lang="ru-RU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Принимает транзакции через </a:t>
            </a:r>
            <a:r>
              <a:rPr lang="en-US" dirty="0" smtClean="0"/>
              <a:t>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Обнаруживает аномалии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Сохраняет историю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Отображает статистику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Презентация результатов магистерской ВКР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 txBox="1">
            <a:spLocks/>
          </p:cNvSpPr>
          <p:nvPr/>
        </p:nvSpPr>
        <p:spPr>
          <a:xfrm>
            <a:off x="6259892" y="2379663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mtClean="0"/>
              <a:t>Цели работы: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Разработать архитектуру конвейера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Провести </a:t>
            </a:r>
            <a:r>
              <a:rPr lang="en-US" dirty="0" smtClean="0"/>
              <a:t>EDA</a:t>
            </a:r>
            <a:r>
              <a:rPr lang="ru-RU" dirty="0" smtClean="0"/>
              <a:t> и сконструировать признаки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Обучить и сравнить модели обнаружения аномалий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Реализовать сервис (</a:t>
            </a:r>
            <a:r>
              <a:rPr lang="en-US" dirty="0" smtClean="0"/>
              <a:t>API + UI + </a:t>
            </a:r>
            <a:r>
              <a:rPr lang="ru-RU" dirty="0" smtClean="0"/>
              <a:t>генератор данных)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Оценить качество и производительность сервиса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Режимы </a:t>
            </a:r>
            <a:r>
              <a:rPr lang="ru-RU" dirty="0"/>
              <a:t>обработки данных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99135"/>
            <a:ext cx="4679122" cy="2649537"/>
          </a:xfrm>
        </p:spPr>
        <p:txBody>
          <a:bodyPr/>
          <a:lstStyle/>
          <a:p>
            <a:r>
              <a:rPr lang="ru-RU" dirty="0"/>
              <a:t>Для задач обнаружения мошенничества в платежах оптимальным является NRT-режим. Он позволяет:</a:t>
            </a:r>
          </a:p>
          <a:p>
            <a:r>
              <a:rPr lang="ru-RU" dirty="0"/>
              <a:t>•	реагировать на подозрительную операцию до её подтверждения (задержки в 1–5 секунд допустимы);</a:t>
            </a:r>
          </a:p>
          <a:p>
            <a:r>
              <a:rPr lang="ru-RU" dirty="0"/>
              <a:t>•	использовать более широкий спектр технологий, чем </a:t>
            </a:r>
            <a:r>
              <a:rPr lang="ru-RU" dirty="0" err="1"/>
              <a:t>real-time</a:t>
            </a:r>
            <a:r>
              <a:rPr lang="ru-RU" dirty="0"/>
              <a:t>;</a:t>
            </a:r>
          </a:p>
          <a:p>
            <a:r>
              <a:rPr lang="ru-RU" dirty="0"/>
              <a:t>•	избегать избыточных затрат на сверхнизкие задержки.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Презентация результатов магистерской ВКР</a:t>
            </a: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3055558" cy="408109"/>
          </a:xfrm>
        </p:spPr>
        <p:txBody>
          <a:bodyPr/>
          <a:lstStyle/>
          <a:p>
            <a:r>
              <a:rPr lang="ru-RU" dirty="0"/>
              <a:t>Теоретические основы построения конвейеров данных и обнаружения аномалий</a:t>
            </a:r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 txBox="1">
            <a:spLocks/>
          </p:cNvSpPr>
          <p:nvPr/>
        </p:nvSpPr>
        <p:spPr>
          <a:xfrm>
            <a:off x="6975506" y="5217748"/>
            <a:ext cx="3334958" cy="42791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Сравнение режимов обработки данных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793153"/>
              </p:ext>
            </p:extLst>
          </p:nvPr>
        </p:nvGraphicFramePr>
        <p:xfrm>
          <a:off x="5472113" y="2066700"/>
          <a:ext cx="6341744" cy="29600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4090">
                  <a:extLst>
                    <a:ext uri="{9D8B030D-6E8A-4147-A177-3AD203B41FA5}">
                      <a16:colId xmlns:a16="http://schemas.microsoft.com/office/drawing/2014/main" val="955749647"/>
                    </a:ext>
                  </a:extLst>
                </a:gridCol>
                <a:gridCol w="1537895">
                  <a:extLst>
                    <a:ext uri="{9D8B030D-6E8A-4147-A177-3AD203B41FA5}">
                      <a16:colId xmlns:a16="http://schemas.microsoft.com/office/drawing/2014/main" val="1037136914"/>
                    </a:ext>
                  </a:extLst>
                </a:gridCol>
                <a:gridCol w="1690026">
                  <a:extLst>
                    <a:ext uri="{9D8B030D-6E8A-4147-A177-3AD203B41FA5}">
                      <a16:colId xmlns:a16="http://schemas.microsoft.com/office/drawing/2014/main" val="2615169831"/>
                    </a:ext>
                  </a:extLst>
                </a:gridCol>
                <a:gridCol w="1669733">
                  <a:extLst>
                    <a:ext uri="{9D8B030D-6E8A-4147-A177-3AD203B41FA5}">
                      <a16:colId xmlns:a16="http://schemas.microsoft.com/office/drawing/2014/main" val="78076086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300" b="0" dirty="0">
                          <a:solidFill>
                            <a:sysClr val="windowText" lastClr="000000"/>
                          </a:solidFill>
                          <a:effectLst/>
                        </a:rPr>
                        <a:t>Характеристика</a:t>
                      </a:r>
                      <a:endParaRPr lang="ru-RU" sz="1300" b="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300" b="0" dirty="0">
                          <a:solidFill>
                            <a:sysClr val="windowText" lastClr="000000"/>
                          </a:solidFill>
                          <a:effectLst/>
                        </a:rPr>
                        <a:t>Пакетный (</a:t>
                      </a:r>
                      <a:r>
                        <a:rPr lang="ru-RU" sz="1300" b="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batch</a:t>
                      </a:r>
                      <a:r>
                        <a:rPr lang="ru-RU" sz="1300" b="0" dirty="0">
                          <a:solidFill>
                            <a:sysClr val="windowText" lastClr="000000"/>
                          </a:solidFill>
                          <a:effectLst/>
                        </a:rPr>
                        <a:t>)</a:t>
                      </a:r>
                      <a:endParaRPr lang="ru-RU" sz="1300" b="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300" b="0" dirty="0">
                          <a:solidFill>
                            <a:sysClr val="windowText" lastClr="000000"/>
                          </a:solidFill>
                          <a:effectLst/>
                        </a:rPr>
                        <a:t>Близкий к реальному времени (NRT)</a:t>
                      </a:r>
                      <a:endParaRPr lang="ru-RU" sz="1300" b="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300" b="0" dirty="0">
                          <a:solidFill>
                            <a:sysClr val="windowText" lastClr="000000"/>
                          </a:solidFill>
                          <a:effectLst/>
                        </a:rPr>
                        <a:t>Реальный (</a:t>
                      </a:r>
                      <a:r>
                        <a:rPr lang="ru-RU" sz="1300" b="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real-time</a:t>
                      </a:r>
                      <a:r>
                        <a:rPr lang="ru-RU" sz="1300" b="0" dirty="0">
                          <a:solidFill>
                            <a:sysClr val="windowText" lastClr="000000"/>
                          </a:solidFill>
                          <a:effectLst/>
                        </a:rPr>
                        <a:t>)</a:t>
                      </a:r>
                      <a:endParaRPr lang="ru-RU" sz="1300" b="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095731"/>
                  </a:ext>
                </a:extLst>
              </a:tr>
              <a:tr h="64547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 dirty="0">
                          <a:solidFill>
                            <a:sysClr val="windowText" lastClr="000000"/>
                          </a:solidFill>
                          <a:effectLst/>
                        </a:rPr>
                        <a:t>Типичная задержка</a:t>
                      </a:r>
                      <a:endParaRPr lang="ru-RU" sz="1300" b="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 dirty="0">
                          <a:effectLst/>
                        </a:rPr>
                        <a:t>Часы-дни</a:t>
                      </a:r>
                      <a:endParaRPr lang="ru-RU" sz="13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>
                          <a:effectLst/>
                        </a:rPr>
                        <a:t>Секунды-минуты</a:t>
                      </a:r>
                      <a:endParaRPr lang="ru-RU" sz="1300" b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>
                          <a:effectLst/>
                        </a:rPr>
                        <a:t>Миллисекунды</a:t>
                      </a:r>
                      <a:endParaRPr lang="ru-RU" sz="1300" b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0447977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 dirty="0">
                          <a:solidFill>
                            <a:sysClr val="windowText" lastClr="000000"/>
                          </a:solidFill>
                          <a:effectLst/>
                        </a:rPr>
                        <a:t>Объём одной обработки</a:t>
                      </a:r>
                      <a:endParaRPr lang="ru-RU" sz="1300" b="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 dirty="0">
                          <a:effectLst/>
                        </a:rPr>
                        <a:t>Крупные блоки (GB–TB)</a:t>
                      </a:r>
                      <a:endParaRPr lang="ru-RU" sz="13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b="0" dirty="0" err="1">
                          <a:effectLst/>
                        </a:rPr>
                        <a:t>Микробатчи</a:t>
                      </a:r>
                      <a:r>
                        <a:rPr lang="en-US" sz="1300" b="0" dirty="0">
                          <a:effectLst/>
                        </a:rPr>
                        <a:t> (KB–MB)</a:t>
                      </a:r>
                      <a:endParaRPr lang="ru-RU" sz="13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b="0">
                          <a:effectLst/>
                        </a:rPr>
                        <a:t>Отдельные события</a:t>
                      </a:r>
                      <a:endParaRPr lang="ru-RU" sz="1300" b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486324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 dirty="0">
                          <a:solidFill>
                            <a:sysClr val="windowText" lastClr="000000"/>
                          </a:solidFill>
                          <a:effectLst/>
                        </a:rPr>
                        <a:t>Сложность реализации</a:t>
                      </a:r>
                      <a:endParaRPr lang="ru-RU" sz="1300" b="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 dirty="0">
                          <a:effectLst/>
                        </a:rPr>
                        <a:t>Низкая</a:t>
                      </a:r>
                      <a:endParaRPr lang="ru-RU" sz="13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 dirty="0">
                          <a:effectLst/>
                        </a:rPr>
                        <a:t>Средняя</a:t>
                      </a:r>
                      <a:endParaRPr lang="ru-RU" sz="13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 dirty="0">
                          <a:effectLst/>
                        </a:rPr>
                        <a:t>Высокая</a:t>
                      </a:r>
                      <a:endParaRPr lang="ru-RU" sz="13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6697654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 dirty="0">
                          <a:solidFill>
                            <a:sysClr val="windowText" lastClr="000000"/>
                          </a:solidFill>
                          <a:effectLst/>
                        </a:rPr>
                        <a:t>Примеры</a:t>
                      </a:r>
                      <a:endParaRPr lang="ru-RU" sz="1300" b="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 dirty="0">
                          <a:effectLst/>
                        </a:rPr>
                        <a:t>Ежедневные отчёты, ETL</a:t>
                      </a:r>
                      <a:endParaRPr lang="ru-RU" sz="13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>
                          <a:effectLst/>
                        </a:rPr>
                        <a:t>Fraud detection, мониторинг систем</a:t>
                      </a:r>
                      <a:endParaRPr lang="ru-RU" sz="1300" b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b="0" dirty="0">
                          <a:effectLst/>
                        </a:rPr>
                        <a:t>Торговые роботы, управление производством</a:t>
                      </a:r>
                      <a:endParaRPr lang="ru-RU" sz="13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1186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11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 данных и первичный анализ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4679122" cy="3393234"/>
          </a:xfrm>
        </p:spPr>
        <p:txBody>
          <a:bodyPr/>
          <a:lstStyle/>
          <a:p>
            <a:r>
              <a:rPr lang="ru-RU" dirty="0" smtClean="0"/>
              <a:t>Источник данных: </a:t>
            </a:r>
            <a:r>
              <a:rPr lang="en-US" dirty="0">
                <a:hlinkClick r:id="rId2"/>
              </a:rPr>
              <a:t>Financial Transactions Dataset for Analysis (</a:t>
            </a:r>
            <a:r>
              <a:rPr lang="en-US" dirty="0" err="1">
                <a:hlinkClick r:id="rId2"/>
              </a:rPr>
              <a:t>Kaggle</a:t>
            </a:r>
            <a:r>
              <a:rPr lang="en-US" dirty="0" smtClean="0">
                <a:hlinkClick r:id="rId2"/>
              </a:rPr>
              <a:t>)</a:t>
            </a:r>
            <a:endParaRPr lang="ru-RU" dirty="0" smtClean="0"/>
          </a:p>
          <a:p>
            <a:r>
              <a:rPr lang="ru-RU" dirty="0" smtClean="0"/>
              <a:t>Описание данных: </a:t>
            </a:r>
            <a:r>
              <a:rPr lang="ru-RU" dirty="0"/>
              <a:t>синтетический </a:t>
            </a:r>
            <a:r>
              <a:rPr lang="ru-RU" dirty="0" err="1"/>
              <a:t>датасет</a:t>
            </a:r>
            <a:r>
              <a:rPr lang="ru-RU" dirty="0"/>
              <a:t>, содержащий 37 417 </a:t>
            </a:r>
            <a:r>
              <a:rPr lang="ru-RU" dirty="0" smtClean="0"/>
              <a:t>транзакций, предназначенных </a:t>
            </a:r>
            <a:r>
              <a:rPr lang="ru-RU" dirty="0"/>
              <a:t>для моделирования реалистичных и разнообразных финансовых операций. Он включает </a:t>
            </a:r>
            <a:r>
              <a:rPr lang="ru-RU" dirty="0" smtClean="0"/>
              <a:t>в себя подробные </a:t>
            </a:r>
            <a:r>
              <a:rPr lang="ru-RU" dirty="0"/>
              <a:t>записи о различных типах транзакций, что делает его идеальным ресурсом для задач машинного обучения, таких как </a:t>
            </a:r>
            <a:r>
              <a:rPr lang="ru-RU" dirty="0" smtClean="0"/>
              <a:t>«обнаружение мошенничества», «финансовый анализ» </a:t>
            </a:r>
            <a:r>
              <a:rPr lang="ru-RU" dirty="0"/>
              <a:t>и </a:t>
            </a:r>
            <a:r>
              <a:rPr lang="ru-RU" dirty="0" smtClean="0"/>
              <a:t>«прогнозное моделирование».</a:t>
            </a:r>
            <a:endParaRPr lang="ru-RU" dirty="0"/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Презентация результатов магистерской ВКР</a:t>
            </a: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Анализ данных и проектирование конвейера</a:t>
            </a:r>
            <a:endParaRPr lang="ru-RU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761813"/>
              </p:ext>
            </p:extLst>
          </p:nvPr>
        </p:nvGraphicFramePr>
        <p:xfrm>
          <a:off x="5529263" y="2379663"/>
          <a:ext cx="6245225" cy="24447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907143644"/>
                    </a:ext>
                  </a:extLst>
                </a:gridCol>
                <a:gridCol w="2083435">
                  <a:extLst>
                    <a:ext uri="{9D8B030D-6E8A-4147-A177-3AD203B41FA5}">
                      <a16:colId xmlns:a16="http://schemas.microsoft.com/office/drawing/2014/main" val="1809071438"/>
                    </a:ext>
                  </a:extLst>
                </a:gridCol>
                <a:gridCol w="2205990">
                  <a:extLst>
                    <a:ext uri="{9D8B030D-6E8A-4147-A177-3AD203B41FA5}">
                      <a16:colId xmlns:a16="http://schemas.microsoft.com/office/drawing/2014/main" val="117906080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  <a:effectLst/>
                        </a:rPr>
                        <a:t>Поле</a:t>
                      </a:r>
                      <a:endParaRPr lang="ru-RU" sz="1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  <a:effectLst/>
                        </a:rPr>
                        <a:t>Тип</a:t>
                      </a:r>
                      <a:endParaRPr lang="ru-RU" sz="1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  <a:effectLst/>
                        </a:rPr>
                        <a:t>Описание</a:t>
                      </a:r>
                      <a:endParaRPr lang="ru-RU" sz="1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10461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TransactionID</a:t>
                      </a:r>
                      <a:endParaRPr lang="ru-RU" sz="1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int64</a:t>
                      </a:r>
                      <a:endParaRPr lang="ru-RU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Уникальный идентификатор транзакции</a:t>
                      </a:r>
                      <a:endParaRPr lang="ru-RU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668359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AccountID</a:t>
                      </a:r>
                      <a:endParaRPr lang="ru-RU" sz="1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int64</a:t>
                      </a:r>
                      <a:endParaRPr lang="ru-RU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Идентификатор счёта (клиента)</a:t>
                      </a:r>
                      <a:endParaRPr lang="ru-RU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9916823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Timestamp</a:t>
                      </a:r>
                      <a:endParaRPr lang="ru-RU" sz="1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object</a:t>
                      </a:r>
                      <a:endParaRPr lang="ru-RU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Дата и время совершения операции</a:t>
                      </a:r>
                      <a:endParaRPr lang="ru-RU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6780989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TransactionType</a:t>
                      </a:r>
                      <a:endParaRPr lang="ru-RU" sz="1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object</a:t>
                      </a:r>
                      <a:endParaRPr lang="ru-RU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Тип транзакции</a:t>
                      </a:r>
                      <a:r>
                        <a:rPr lang="en-US" sz="1100">
                          <a:effectLst/>
                        </a:rPr>
                        <a:t> (deposit, withdrawal, payment, transfer)</a:t>
                      </a:r>
                      <a:endParaRPr lang="ru-RU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092161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TransactionAmount</a:t>
                      </a:r>
                      <a:endParaRPr lang="ru-RU" sz="1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float64</a:t>
                      </a:r>
                      <a:endParaRPr lang="ru-RU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Сумма операции</a:t>
                      </a:r>
                      <a:endParaRPr lang="ru-RU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8491899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AccountBalance</a:t>
                      </a:r>
                      <a:endParaRPr lang="ru-RU" sz="11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float64</a:t>
                      </a:r>
                      <a:endParaRPr lang="ru-RU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Баланс счёта после совершения операции</a:t>
                      </a:r>
                      <a:endParaRPr lang="ru-RU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3940687"/>
                  </a:ext>
                </a:extLst>
              </a:tr>
            </a:tbl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 txBox="1">
            <a:spLocks/>
          </p:cNvSpPr>
          <p:nvPr/>
        </p:nvSpPr>
        <p:spPr>
          <a:xfrm>
            <a:off x="7512878" y="4969636"/>
            <a:ext cx="2285640" cy="42791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Описание полей </a:t>
            </a:r>
            <a:r>
              <a:rPr lang="ru-RU" dirty="0" err="1"/>
              <a:t>датасета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58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686AF3F-C863-864E-AFDC-D574F8060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Аналитика больших </a:t>
            </a:r>
            <a:r>
              <a:rPr lang="ru-RU" dirty="0" smtClean="0"/>
              <a:t>данных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A1EC68-7619-8F49-AEC3-176ECF1F6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Презентация результатов магистерской </a:t>
            </a:r>
            <a:r>
              <a:rPr lang="ru-RU" dirty="0" smtClean="0"/>
              <a:t>ВКР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23B065-0902-0141-A245-63D5DCF436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Анализ данных и проектирование конвейера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872CBB7-AE1B-9D40-A298-6BDF023A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543040"/>
            <a:ext cx="11110801" cy="777025"/>
          </a:xfrm>
        </p:spPr>
        <p:txBody>
          <a:bodyPr/>
          <a:lstStyle/>
          <a:p>
            <a:r>
              <a:rPr lang="ru-RU" dirty="0"/>
              <a:t>Источник данных и первичный анализ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03" y="2111566"/>
            <a:ext cx="5072022" cy="382179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653" y="2111566"/>
            <a:ext cx="4900572" cy="3830612"/>
          </a:xfrm>
          <a:prstGeom prst="rect">
            <a:avLst/>
          </a:prstGeom>
        </p:spPr>
      </p:pic>
      <p:sp>
        <p:nvSpPr>
          <p:cNvPr id="1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 txBox="1">
            <a:spLocks/>
          </p:cNvSpPr>
          <p:nvPr/>
        </p:nvSpPr>
        <p:spPr>
          <a:xfrm>
            <a:off x="1744358" y="5942178"/>
            <a:ext cx="3040712" cy="42791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Распределение сумм транзакций</a:t>
            </a:r>
            <a:endParaRPr lang="ru-RU" dirty="0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 txBox="1">
            <a:spLocks/>
          </p:cNvSpPr>
          <p:nvPr/>
        </p:nvSpPr>
        <p:spPr>
          <a:xfrm>
            <a:off x="7354370" y="5933364"/>
            <a:ext cx="3041138" cy="42791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Распределение балансов клиентов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221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 данных и первичный анализ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4679122" cy="3393234"/>
          </a:xfrm>
        </p:spPr>
        <p:txBody>
          <a:bodyPr/>
          <a:lstStyle/>
          <a:p>
            <a:r>
              <a:rPr lang="ru-RU" dirty="0" smtClean="0"/>
              <a:t>Выводы по </a:t>
            </a:r>
            <a:r>
              <a:rPr lang="en-US" dirty="0" smtClean="0"/>
              <a:t>EDA</a:t>
            </a:r>
            <a:r>
              <a:rPr lang="ru-RU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Данные синтетические, но пригодны для отработки подхода</a:t>
            </a:r>
            <a:r>
              <a:rPr lang="ru-RU" dirty="0" smtClean="0"/>
              <a:t>.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Распределения близки к равномерным</a:t>
            </a:r>
            <a:r>
              <a:rPr lang="ru-RU" dirty="0" smtClean="0"/>
              <a:t>.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Линейные корреляции </a:t>
            </a:r>
            <a:r>
              <a:rPr lang="ru-RU" dirty="0" smtClean="0"/>
              <a:t>отсутствуют, что означает необходимость использования нелинейных моделей.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Медианный интервал между транзакциями </a:t>
            </a:r>
            <a:r>
              <a:rPr lang="ru-RU" dirty="0" smtClean="0"/>
              <a:t>составляет примерно 1,5 часа, что отражает низкую интенсивность.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Презентация результатов магистерской ВКР</a:t>
            </a: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Анализ данных и проектирование конвейера</a:t>
            </a:r>
            <a:endParaRPr lang="ru-RU" dirty="0"/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 txBox="1">
            <a:spLocks/>
          </p:cNvSpPr>
          <p:nvPr/>
        </p:nvSpPr>
        <p:spPr>
          <a:xfrm>
            <a:off x="7427319" y="5700409"/>
            <a:ext cx="3059706" cy="42791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/>
              <a:t>Количество транзакций по часам</a:t>
            </a: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403" y="1878611"/>
            <a:ext cx="4900572" cy="382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2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4767153" cy="777025"/>
          </a:xfrm>
        </p:spPr>
        <p:txBody>
          <a:bodyPr/>
          <a:lstStyle/>
          <a:p>
            <a:r>
              <a:rPr lang="ru-RU" dirty="0"/>
              <a:t>Сервисная часть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454479"/>
            <a:ext cx="3986102" cy="3327196"/>
          </a:xfrm>
        </p:spPr>
        <p:txBody>
          <a:bodyPr/>
          <a:lstStyle/>
          <a:p>
            <a:r>
              <a:rPr lang="ru-RU" u="sng" dirty="0" smtClean="0"/>
              <a:t>Реализовано: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REST </a:t>
            </a:r>
            <a:r>
              <a:rPr lang="en-US" dirty="0"/>
              <a:t>API </a:t>
            </a:r>
            <a:r>
              <a:rPr lang="ru-RU" dirty="0"/>
              <a:t>на </a:t>
            </a:r>
            <a:r>
              <a:rPr lang="en-US" dirty="0" err="1"/>
              <a:t>FastAPI</a:t>
            </a:r>
            <a:r>
              <a:rPr lang="en-US" dirty="0"/>
              <a:t> (</a:t>
            </a:r>
            <a:r>
              <a:rPr lang="ru-RU" dirty="0" err="1"/>
              <a:t>эндпоинты</a:t>
            </a:r>
            <a:r>
              <a:rPr lang="ru-RU" dirty="0"/>
              <a:t> /</a:t>
            </a:r>
            <a:r>
              <a:rPr lang="en-US" dirty="0"/>
              <a:t>predict, /stats/{</a:t>
            </a:r>
            <a:r>
              <a:rPr lang="en-US" dirty="0" err="1"/>
              <a:t>account_id</a:t>
            </a:r>
            <a:r>
              <a:rPr lang="en-US" dirty="0" smtClean="0"/>
              <a:t>}).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Хранилище </a:t>
            </a:r>
            <a:r>
              <a:rPr lang="ru-RU" dirty="0"/>
              <a:t>на </a:t>
            </a:r>
            <a:r>
              <a:rPr lang="en-US" dirty="0"/>
              <a:t>SQLite </a:t>
            </a:r>
            <a:r>
              <a:rPr lang="ru-RU" dirty="0"/>
              <a:t>для истории всех транзакций и предсказаний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u="sng" dirty="0" smtClean="0"/>
              <a:t>Планируется к 11.05.2026: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Создание </a:t>
            </a:r>
            <a:r>
              <a:rPr lang="ru-RU" dirty="0" err="1"/>
              <a:t>Streamlit</a:t>
            </a:r>
            <a:r>
              <a:rPr lang="ru-RU" dirty="0"/>
              <a:t> UI для мониторинга, ручного ввода и </a:t>
            </a:r>
            <a:r>
              <a:rPr lang="ru-RU" dirty="0" smtClean="0"/>
              <a:t>статистики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Добавление генератора </a:t>
            </a:r>
            <a:r>
              <a:rPr lang="ru-RU" dirty="0"/>
              <a:t>транзакций, </a:t>
            </a:r>
            <a:r>
              <a:rPr lang="ru-RU" dirty="0" smtClean="0"/>
              <a:t>эмулирующего </a:t>
            </a:r>
            <a:r>
              <a:rPr lang="ru-RU" dirty="0"/>
              <a:t>непрерывный </a:t>
            </a:r>
            <a:r>
              <a:rPr lang="ru-RU" dirty="0" smtClean="0"/>
              <a:t>NRT-поток </a:t>
            </a:r>
            <a:r>
              <a:rPr lang="ru-RU" dirty="0"/>
              <a:t>на основе статистик </a:t>
            </a:r>
            <a:r>
              <a:rPr lang="ru-RU" dirty="0" err="1"/>
              <a:t>датасета</a:t>
            </a:r>
            <a:r>
              <a:rPr lang="ru-RU" dirty="0" smtClean="0"/>
              <a:t> </a:t>
            </a:r>
            <a:r>
              <a:rPr lang="ru-RU" dirty="0"/>
              <a:t>(задержка 1 – 5 секунд, доля аномалий ≈2%).</a:t>
            </a:r>
            <a:endParaRPr lang="en-U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Презентация результатов магистерской ВКР</a:t>
            </a: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Анализ данных и проектирование конвейера</a:t>
            </a:r>
            <a:endParaRPr lang="ru-RU" dirty="0"/>
          </a:p>
        </p:txBody>
      </p:sp>
      <p:pic>
        <p:nvPicPr>
          <p:cNvPr id="10" name="Рисунок 9" descr="C:\Users\lebed\Downloads\Запасной вариант - Frame 1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363" y="2224815"/>
            <a:ext cx="6251258" cy="292068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 txBox="1">
            <a:spLocks/>
          </p:cNvSpPr>
          <p:nvPr/>
        </p:nvSpPr>
        <p:spPr>
          <a:xfrm>
            <a:off x="7253063" y="5242531"/>
            <a:ext cx="2153858" cy="53914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Архитектура конвейера</a:t>
            </a:r>
          </a:p>
        </p:txBody>
      </p:sp>
    </p:spTree>
    <p:extLst>
      <p:ext uri="{BB962C8B-B14F-4D97-AF65-F5344CB8AC3E}">
        <p14:creationId xmlns:p14="http://schemas.microsoft.com/office/powerpoint/2010/main" val="202492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33D5D5-13C7-8644-8CD8-A04CCCE73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8095CB-94DB-754D-A4ED-35EBDDB3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Презентация результатов магистерской ВКР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0714699" cy="777025"/>
          </a:xfrm>
        </p:spPr>
        <p:txBody>
          <a:bodyPr/>
          <a:lstStyle/>
          <a:p>
            <a:r>
              <a:rPr lang="ru-RU" dirty="0" smtClean="0"/>
              <a:t>Формировани</a:t>
            </a:r>
            <a:r>
              <a:rPr lang="ru-RU" dirty="0" smtClean="0"/>
              <a:t>е целевой переменной и выбор метрик качества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622317-DCC7-F945-8031-3E7F389B98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4248" y="2640563"/>
            <a:ext cx="4322531" cy="2399371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Исходный </a:t>
            </a:r>
            <a:r>
              <a:rPr lang="ru-RU" dirty="0" err="1" smtClean="0"/>
              <a:t>датасет</a:t>
            </a:r>
            <a:r>
              <a:rPr lang="ru-RU" dirty="0" smtClean="0"/>
              <a:t> не содержит меток мошенничества, потому в качестве целевой переменной было выбрано логическое ИЛИ двух критериев: статистической и временной аномалии. </a:t>
            </a:r>
          </a:p>
          <a:p>
            <a:r>
              <a:rPr lang="ru-RU" dirty="0" smtClean="0"/>
              <a:t>Для обеспечения статистической значимости доля аномалий была увеличена искусственно с 0.18% до 2% тремя методами: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крупные суммы (*3-5)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высокая частота (&lt;60 сек)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резкое снижение баланса (на 70–90%)</a:t>
            </a:r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FE4DD9E-D443-AF4F-A072-F5C4D494A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Анализ данных и проектирование конвейера</a:t>
            </a:r>
          </a:p>
          <a:p>
            <a:endParaRPr lang="ru-RU" dirty="0"/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A6622317-DCC7-F945-8031-3E7F389B98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81823" y="2640563"/>
            <a:ext cx="5300552" cy="2582863"/>
          </a:xfrm>
        </p:spPr>
        <p:txBody>
          <a:bodyPr>
            <a:normAutofit/>
          </a:bodyPr>
          <a:lstStyle/>
          <a:p>
            <a:r>
              <a:rPr lang="ru-RU" dirty="0"/>
              <a:t>В качестве базовых метрик качества приняты:</a:t>
            </a:r>
          </a:p>
          <a:p>
            <a:r>
              <a:rPr lang="ru-RU" dirty="0"/>
              <a:t>•	</a:t>
            </a:r>
            <a:r>
              <a:rPr lang="ru-RU" dirty="0" err="1"/>
              <a:t>Recall</a:t>
            </a:r>
            <a:r>
              <a:rPr lang="ru-RU" dirty="0"/>
              <a:t> (полнота</a:t>
            </a:r>
            <a:r>
              <a:rPr lang="ru-RU" dirty="0" smtClean="0"/>
              <a:t>). </a:t>
            </a:r>
            <a:r>
              <a:rPr lang="ru-RU" dirty="0"/>
              <a:t>Приоритетная метрика, так как пропуск мошенничества ведёт к прямым финансовым потерям.</a:t>
            </a:r>
          </a:p>
          <a:p>
            <a:r>
              <a:rPr lang="ru-RU" dirty="0"/>
              <a:t>•	</a:t>
            </a:r>
            <a:r>
              <a:rPr lang="ru-RU" dirty="0" err="1" smtClean="0"/>
              <a:t>Precision</a:t>
            </a:r>
            <a:r>
              <a:rPr lang="ru-RU" dirty="0" smtClean="0"/>
              <a:t>. </a:t>
            </a:r>
            <a:r>
              <a:rPr lang="ru-RU" dirty="0"/>
              <a:t>Важна для минимизации ложных срабатываний, которые создают нагрузку на службу безопасности.</a:t>
            </a:r>
          </a:p>
          <a:p>
            <a:r>
              <a:rPr lang="ru-RU" dirty="0"/>
              <a:t>•	</a:t>
            </a:r>
            <a:r>
              <a:rPr lang="ru-RU" dirty="0" smtClean="0"/>
              <a:t>F1-score. Отражает </a:t>
            </a:r>
            <a:r>
              <a:rPr lang="ru-RU" dirty="0"/>
              <a:t>общий баланс.</a:t>
            </a:r>
          </a:p>
          <a:p>
            <a:r>
              <a:rPr lang="ru-RU" dirty="0"/>
              <a:t>•	</a:t>
            </a:r>
            <a:r>
              <a:rPr lang="ru-RU" dirty="0" smtClean="0"/>
              <a:t>ROC-AUC. Полезна </a:t>
            </a:r>
            <a:r>
              <a:rPr lang="ru-RU" dirty="0"/>
              <a:t>для сравнения моделей независимо от порога</a:t>
            </a:r>
            <a:r>
              <a:rPr lang="ru-R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1262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6757877" cy="777025"/>
          </a:xfrm>
        </p:spPr>
        <p:txBody>
          <a:bodyPr/>
          <a:lstStyle/>
          <a:p>
            <a:r>
              <a:rPr lang="ru-RU" dirty="0"/>
              <a:t>Базовые модели (</a:t>
            </a:r>
            <a:r>
              <a:rPr lang="ru-RU" dirty="0" err="1"/>
              <a:t>baseline</a:t>
            </a:r>
            <a:r>
              <a:rPr lang="ru-RU" dirty="0"/>
              <a:t>) и их метрики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578304"/>
            <a:ext cx="4679122" cy="2182812"/>
          </a:xfrm>
        </p:spPr>
        <p:txBody>
          <a:bodyPr/>
          <a:lstStyle/>
          <a:p>
            <a:r>
              <a:rPr lang="ru-RU" dirty="0"/>
              <a:t>Модель 1: </a:t>
            </a:r>
            <a:r>
              <a:rPr lang="en-US" dirty="0"/>
              <a:t>Random Forest </a:t>
            </a:r>
            <a:r>
              <a:rPr lang="ru-RU" dirty="0"/>
              <a:t>с параметрами </a:t>
            </a:r>
            <a:r>
              <a:rPr lang="ru-RU" dirty="0" smtClean="0"/>
              <a:t>‘</a:t>
            </a:r>
            <a:r>
              <a:rPr lang="en-US" dirty="0" err="1"/>
              <a:t>n_estimators</a:t>
            </a:r>
            <a:r>
              <a:rPr lang="en-US" dirty="0"/>
              <a:t>=50’, ‘</a:t>
            </a:r>
            <a:r>
              <a:rPr lang="en-US" dirty="0" err="1"/>
              <a:t>max_depth</a:t>
            </a:r>
            <a:r>
              <a:rPr lang="en-US" dirty="0"/>
              <a:t>=5’, ‘</a:t>
            </a:r>
            <a:r>
              <a:rPr lang="en-US" dirty="0" err="1"/>
              <a:t>min_samples_leaf</a:t>
            </a:r>
            <a:r>
              <a:rPr lang="en-US" dirty="0"/>
              <a:t>=2’, ‘</a:t>
            </a:r>
            <a:r>
              <a:rPr lang="en-US" dirty="0" err="1"/>
              <a:t>min_samples_split</a:t>
            </a:r>
            <a:r>
              <a:rPr lang="en-US" dirty="0"/>
              <a:t>=5’, ‘</a:t>
            </a:r>
            <a:r>
              <a:rPr lang="en-US" dirty="0" err="1"/>
              <a:t>class_weight</a:t>
            </a:r>
            <a:r>
              <a:rPr lang="en-US" dirty="0"/>
              <a:t>='balanced'‘.</a:t>
            </a:r>
          </a:p>
          <a:p>
            <a:r>
              <a:rPr lang="ru-RU" dirty="0" smtClean="0"/>
              <a:t>Модель </a:t>
            </a:r>
            <a:r>
              <a:rPr lang="ru-RU" dirty="0"/>
              <a:t>2: </a:t>
            </a:r>
            <a:r>
              <a:rPr lang="en-US" dirty="0"/>
              <a:t>Balanced Random Forest (</a:t>
            </a:r>
            <a:r>
              <a:rPr lang="ru-RU" dirty="0"/>
              <a:t>из библиотеки </a:t>
            </a:r>
            <a:r>
              <a:rPr lang="en-US" dirty="0"/>
              <a:t>imbalanced-learn</a:t>
            </a:r>
            <a:r>
              <a:rPr lang="en-US" dirty="0" smtClean="0"/>
              <a:t>)</a:t>
            </a:r>
            <a:r>
              <a:rPr lang="ru-RU" dirty="0" smtClean="0"/>
              <a:t> с параметрами </a:t>
            </a:r>
            <a:r>
              <a:rPr lang="ru-RU" dirty="0"/>
              <a:t>‘</a:t>
            </a:r>
            <a:r>
              <a:rPr lang="en-US" dirty="0" err="1"/>
              <a:t>n_estimators</a:t>
            </a:r>
            <a:r>
              <a:rPr lang="en-US" dirty="0"/>
              <a:t>=100’, ‘</a:t>
            </a:r>
            <a:r>
              <a:rPr lang="en-US" dirty="0" err="1"/>
              <a:t>max_depth</a:t>
            </a:r>
            <a:r>
              <a:rPr lang="en-US" dirty="0"/>
              <a:t>=10’, ‘</a:t>
            </a:r>
            <a:r>
              <a:rPr lang="en-US" dirty="0" err="1"/>
              <a:t>sampling_strategy</a:t>
            </a:r>
            <a:r>
              <a:rPr lang="en-US" dirty="0"/>
              <a:t>='auto'‘, ‘replacement=True’.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Презентация результатов магистерской ВКР</a:t>
            </a: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Разработка модели обнаружения аномалий</a:t>
            </a:r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 txBox="1">
            <a:spLocks/>
          </p:cNvSpPr>
          <p:nvPr/>
        </p:nvSpPr>
        <p:spPr>
          <a:xfrm>
            <a:off x="6474079" y="4520932"/>
            <a:ext cx="4288597" cy="42791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 базовых моделей на тестовой выборке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261867"/>
              </p:ext>
            </p:extLst>
          </p:nvPr>
        </p:nvGraphicFramePr>
        <p:xfrm>
          <a:off x="5340032" y="2567395"/>
          <a:ext cx="6556692" cy="17732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4773">
                  <a:extLst>
                    <a:ext uri="{9D8B030D-6E8A-4147-A177-3AD203B41FA5}">
                      <a16:colId xmlns:a16="http://schemas.microsoft.com/office/drawing/2014/main" val="886391089"/>
                    </a:ext>
                  </a:extLst>
                </a:gridCol>
                <a:gridCol w="753486">
                  <a:extLst>
                    <a:ext uri="{9D8B030D-6E8A-4147-A177-3AD203B41FA5}">
                      <a16:colId xmlns:a16="http://schemas.microsoft.com/office/drawing/2014/main" val="450968100"/>
                    </a:ext>
                  </a:extLst>
                </a:gridCol>
                <a:gridCol w="913057">
                  <a:extLst>
                    <a:ext uri="{9D8B030D-6E8A-4147-A177-3AD203B41FA5}">
                      <a16:colId xmlns:a16="http://schemas.microsoft.com/office/drawing/2014/main" val="1148973457"/>
                    </a:ext>
                  </a:extLst>
                </a:gridCol>
                <a:gridCol w="912341">
                  <a:extLst>
                    <a:ext uri="{9D8B030D-6E8A-4147-A177-3AD203B41FA5}">
                      <a16:colId xmlns:a16="http://schemas.microsoft.com/office/drawing/2014/main" val="3535857047"/>
                    </a:ext>
                  </a:extLst>
                </a:gridCol>
                <a:gridCol w="607561">
                  <a:extLst>
                    <a:ext uri="{9D8B030D-6E8A-4147-A177-3AD203B41FA5}">
                      <a16:colId xmlns:a16="http://schemas.microsoft.com/office/drawing/2014/main" val="613677702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424205715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32162938"/>
                    </a:ext>
                  </a:extLst>
                </a:gridCol>
                <a:gridCol w="638174">
                  <a:extLst>
                    <a:ext uri="{9D8B030D-6E8A-4147-A177-3AD203B41FA5}">
                      <a16:colId xmlns:a16="http://schemas.microsoft.com/office/drawing/2014/main" val="2763797594"/>
                    </a:ext>
                  </a:extLst>
                </a:gridCol>
              </a:tblGrid>
              <a:tr h="5910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Модель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F1-score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ROC-AUC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Precision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Recall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TP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FP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FN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478838"/>
                  </a:ext>
                </a:extLst>
              </a:tr>
              <a:tr h="5910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Baseline</a:t>
                      </a:r>
                      <a:r>
                        <a:rPr lang="ru-RU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 RF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0.120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0.783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0.066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0.647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97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1370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53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0867255"/>
                  </a:ext>
                </a:extLst>
              </a:tr>
              <a:tr h="5910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Balanced</a:t>
                      </a:r>
                      <a:r>
                        <a:rPr lang="ru-RU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Random</a:t>
                      </a:r>
                      <a:r>
                        <a:rPr lang="ru-RU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Forest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0.118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0.779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0.064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0.700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105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1526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45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8293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82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4767153" cy="777025"/>
          </a:xfrm>
        </p:spPr>
        <p:txBody>
          <a:bodyPr/>
          <a:lstStyle/>
          <a:p>
            <a:r>
              <a:rPr lang="ru-RU" dirty="0"/>
              <a:t>Улучшение моделей и итоговое сравнение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578304"/>
            <a:ext cx="3986102" cy="2182812"/>
          </a:xfrm>
        </p:spPr>
        <p:txBody>
          <a:bodyPr/>
          <a:lstStyle/>
          <a:p>
            <a:r>
              <a:rPr lang="ru-RU" dirty="0" smtClean="0"/>
              <a:t>Что сделано для улучшения: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Добавлено 7 новых признаков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Применен </a:t>
            </a:r>
            <a:r>
              <a:rPr lang="en-US" dirty="0" smtClean="0"/>
              <a:t>SMOTE </a:t>
            </a:r>
            <a:r>
              <a:rPr lang="ru-RU" dirty="0" smtClean="0"/>
              <a:t>к обучающей выборке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Проведено сравнение 9 моделей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Выбраны 2 лучшие модели (</a:t>
            </a:r>
            <a:r>
              <a:rPr lang="en-US" dirty="0"/>
              <a:t>Random Forest + </a:t>
            </a:r>
            <a:r>
              <a:rPr lang="en-US" dirty="0" smtClean="0"/>
              <a:t>SMOTE</a:t>
            </a:r>
            <a:r>
              <a:rPr lang="ru-RU" dirty="0" smtClean="0"/>
              <a:t>,</a:t>
            </a:r>
            <a:r>
              <a:rPr lang="en-US" dirty="0"/>
              <a:t> Gradient </a:t>
            </a:r>
            <a:r>
              <a:rPr lang="en-US" dirty="0" smtClean="0"/>
              <a:t>Boosting</a:t>
            </a:r>
            <a:r>
              <a:rPr lang="ru-RU" dirty="0" smtClean="0"/>
              <a:t>) </a:t>
            </a:r>
            <a:endParaRPr lang="en-U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Презентация результатов магистерской ВКР</a:t>
            </a: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Разработка модели обнаружения аномалий</a:t>
            </a:r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 txBox="1">
            <a:spLocks/>
          </p:cNvSpPr>
          <p:nvPr/>
        </p:nvSpPr>
        <p:spPr>
          <a:xfrm>
            <a:off x="6751924" y="5972628"/>
            <a:ext cx="3271900" cy="42791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Сравнение всех обученных моделей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896318"/>
              </p:ext>
            </p:extLst>
          </p:nvPr>
        </p:nvGraphicFramePr>
        <p:xfrm>
          <a:off x="4952999" y="1566863"/>
          <a:ext cx="6869750" cy="42791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5188">
                  <a:extLst>
                    <a:ext uri="{9D8B030D-6E8A-4147-A177-3AD203B41FA5}">
                      <a16:colId xmlns:a16="http://schemas.microsoft.com/office/drawing/2014/main" val="141628553"/>
                    </a:ext>
                  </a:extLst>
                </a:gridCol>
                <a:gridCol w="789462">
                  <a:extLst>
                    <a:ext uri="{9D8B030D-6E8A-4147-A177-3AD203B41FA5}">
                      <a16:colId xmlns:a16="http://schemas.microsoft.com/office/drawing/2014/main" val="75453002"/>
                    </a:ext>
                  </a:extLst>
                </a:gridCol>
                <a:gridCol w="956652">
                  <a:extLst>
                    <a:ext uri="{9D8B030D-6E8A-4147-A177-3AD203B41FA5}">
                      <a16:colId xmlns:a16="http://schemas.microsoft.com/office/drawing/2014/main" val="3608397558"/>
                    </a:ext>
                  </a:extLst>
                </a:gridCol>
                <a:gridCol w="955902">
                  <a:extLst>
                    <a:ext uri="{9D8B030D-6E8A-4147-A177-3AD203B41FA5}">
                      <a16:colId xmlns:a16="http://schemas.microsoft.com/office/drawing/2014/main" val="3526705624"/>
                    </a:ext>
                  </a:extLst>
                </a:gridCol>
                <a:gridCol w="569793">
                  <a:extLst>
                    <a:ext uri="{9D8B030D-6E8A-4147-A177-3AD203B41FA5}">
                      <a16:colId xmlns:a16="http://schemas.microsoft.com/office/drawing/2014/main" val="1390613891"/>
                    </a:ext>
                  </a:extLst>
                </a:gridCol>
                <a:gridCol w="569793">
                  <a:extLst>
                    <a:ext uri="{9D8B030D-6E8A-4147-A177-3AD203B41FA5}">
                      <a16:colId xmlns:a16="http://schemas.microsoft.com/office/drawing/2014/main" val="3165000704"/>
                    </a:ext>
                  </a:extLst>
                </a:gridCol>
                <a:gridCol w="744479">
                  <a:extLst>
                    <a:ext uri="{9D8B030D-6E8A-4147-A177-3AD203B41FA5}">
                      <a16:colId xmlns:a16="http://schemas.microsoft.com/office/drawing/2014/main" val="702891946"/>
                    </a:ext>
                  </a:extLst>
                </a:gridCol>
                <a:gridCol w="738481">
                  <a:extLst>
                    <a:ext uri="{9D8B030D-6E8A-4147-A177-3AD203B41FA5}">
                      <a16:colId xmlns:a16="http://schemas.microsoft.com/office/drawing/2014/main" val="2182998275"/>
                    </a:ext>
                  </a:extLst>
                </a:gridCol>
              </a:tblGrid>
              <a:tr h="4279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Модель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F1-score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ROC-AUC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Precision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Recall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TP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FP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FN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366945"/>
                  </a:ext>
                </a:extLst>
              </a:tr>
              <a:tr h="427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Random</a:t>
                      </a:r>
                      <a:r>
                        <a:rPr lang="ru-RU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Forest</a:t>
                      </a:r>
                      <a:r>
                        <a:rPr lang="ru-RU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 + SMOTE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0.492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0.785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1.000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0.327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49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101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3100000"/>
                  </a:ext>
                </a:extLst>
              </a:tr>
              <a:tr h="427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XGBoost</a:t>
                      </a:r>
                      <a:r>
                        <a:rPr lang="ru-RU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 + SMOTE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0.435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0.731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0.977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0.280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42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1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108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7809402"/>
                  </a:ext>
                </a:extLst>
              </a:tr>
              <a:tr h="427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Gradient</a:t>
                      </a:r>
                      <a:r>
                        <a:rPr lang="ru-RU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Boosting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0.430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0.783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0.628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0.327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49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29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101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2270089"/>
                  </a:ext>
                </a:extLst>
              </a:tr>
              <a:tr h="427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LightGBM</a:t>
                      </a:r>
                      <a:r>
                        <a:rPr lang="ru-RU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 + SMOTE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0.404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0.764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1.000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0.253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38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112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6291937"/>
                  </a:ext>
                </a:extLst>
              </a:tr>
              <a:tr h="427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LightGBM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0.171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0.767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0.103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0.493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74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643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76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9226641"/>
                  </a:ext>
                </a:extLst>
              </a:tr>
              <a:tr h="427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XGBoost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0.148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0.744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0.089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0.420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63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641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87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29501627"/>
                  </a:ext>
                </a:extLst>
              </a:tr>
              <a:tr h="427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CatBoost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0.126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0.781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0.070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0.647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97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1287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53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8165438"/>
                  </a:ext>
                </a:extLst>
              </a:tr>
              <a:tr h="427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Baseline</a:t>
                      </a:r>
                      <a:r>
                        <a:rPr lang="ru-RU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 RF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0.120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0.783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0.066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0.647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97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1370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53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30164641"/>
                  </a:ext>
                </a:extLst>
              </a:tr>
              <a:tr h="427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Balanced</a:t>
                      </a:r>
                      <a:r>
                        <a:rPr lang="ru-RU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Random</a:t>
                      </a:r>
                      <a:r>
                        <a:rPr lang="ru-RU" sz="130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3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Forest</a:t>
                      </a:r>
                      <a:endParaRPr lang="ru-RU" sz="13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0.118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0.779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0.064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0.700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105</a:t>
                      </a:r>
                      <a:endParaRPr lang="ru-RU" sz="13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1526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45</a:t>
                      </a:r>
                      <a:endParaRPr lang="ru-RU" sz="13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0605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242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9875bd71-cde8-496c-a136-433f55d5e6d0"/>
    <ds:schemaRef ds:uri="http://schemas.openxmlformats.org/package/2006/metadata/core-properties"/>
    <ds:schemaRef ds:uri="e96afe77-3acb-4328-97fc-408e1bde3ec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924</Words>
  <Application>Microsoft Office PowerPoint</Application>
  <PresentationFormat>Широкоэкранный</PresentationFormat>
  <Paragraphs>243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HSE Sans</vt:lpstr>
      <vt:lpstr>Times New Roman</vt:lpstr>
      <vt:lpstr>Office Theme</vt:lpstr>
      <vt:lpstr>Презентация результатов магистерской ВКР</vt:lpstr>
      <vt:lpstr>Постановка задачи и цели</vt:lpstr>
      <vt:lpstr>Режимы обработки данных</vt:lpstr>
      <vt:lpstr>Источник данных и первичный анализ</vt:lpstr>
      <vt:lpstr>Источник данных и первичный анализ</vt:lpstr>
      <vt:lpstr>Источник данных и первичный анализ</vt:lpstr>
      <vt:lpstr>Сервисная часть</vt:lpstr>
      <vt:lpstr>Формирование целевой переменной и выбор метрик качества</vt:lpstr>
      <vt:lpstr>Базовые модели (baseline) и их метрики</vt:lpstr>
      <vt:lpstr>Улучшение моделей и итоговое сравнение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lebedeva100201@gmail.com</cp:lastModifiedBy>
  <cp:revision>32</cp:revision>
  <cp:lastPrinted>2021-11-11T13:08:42Z</cp:lastPrinted>
  <dcterms:created xsi:type="dcterms:W3CDTF">2021-11-11T08:52:47Z</dcterms:created>
  <dcterms:modified xsi:type="dcterms:W3CDTF">2026-05-06T19:54:33Z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